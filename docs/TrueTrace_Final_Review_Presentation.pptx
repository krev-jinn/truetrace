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guide and panel members. I am Pranayaa C, and today I am presenting my final project review on 'TrueTrace: A Network-Grounded Framework for Attack Trace Verification', carried out under the guidance of Dr. Aaseegha M 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digital forensics, host logs only tell you what the operating system was asked to do. A write call only queues bytes in local kernel memory. TrueTrace cross-checks these claims against independent packet evidence using a 3-valued arbitration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system architecture. We ingest host audit logs and raw packet captures independently. The core engine applies flow correlation and sensor checks to determine if each network step is Supported, Contradicted, or Unresolved.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methodology relies on explicit transport invariants. If a host claims a connection succeeded, we look for the RFC 793 handshake. If the wire shows a TCP Reset, we contradict it. If the sensor did not cover that subnet, we mark it Unresolved.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implementation, the entire platform is functional and tested. We built a FastAPI backend, a pure-Python Libpcap parser, and an interactive React workbench with 8 forensic exploration views.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core visual contribution. On the left is the raw candidate graph from host logs. On the right is our refined graph: contradicted claims are pruned, corroborated paths turn solid green, and unobservable edge devices remain dashed in orange.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workbench provides full forensic traceability. An analyst can inspect any claim to see the applied rule and matching 5-tuple. Our sensor matrix also tracks hardware packet loss and allows simulating drops to test resilience.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120 forensic traces across DARPA TC benchmarks and live socket experiments. TrueTrace achieved a 96.5% F1 on supported claims and 97.4% on contradicted claims. In 3 edge cases with clock jitter or loss flags, TrueTrace safely defaulted to Unresolved.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TrueTrace with leading systems like DARPA TC and Holmes, existing systems suffer from a 24% to 31% false attribution rate because they cannot detect closed ports or decoupled buffers. TrueTrace reduces this error to under 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key research foundations cited in our work, including RFC 793, DARPA Transparent Computing, and USENIX and IEEE provenance literature.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TrueTrace provides an evidence-based foundation for digital forensics by confirming what actually crossed the wire. Thank you respected guide and panel members, and I am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0.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7772400" cy="868680"/>
          </a:xfrm>
          <a:prstGeom prst="roundRect">
            <a:avLst/>
          </a:prstGeom>
          <a:solidFill>
            <a:srgbClr val="1122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sz="2200" b="1">
                <a:solidFill>
                  <a:srgbClr val="FFFFFF"/>
                </a:solidFill>
                <a:latin typeface="Segoe UI"/>
              </a:defRPr>
            </a:pPr>
            <a:r>
              <a:t>ABSTRACT &amp; PROBLEM STATEMENT</a:t>
            </a:r>
          </a:p>
          <a:p>
            <a:pPr>
              <a:defRPr sz="1100" b="1">
                <a:solidFill>
                  <a:srgbClr val="00E5FF"/>
                </a:solidFill>
                <a:latin typeface="Arial"/>
              </a:defRPr>
            </a:pPr>
            <a:r>
              <a:t>SECTION 2: ABSTRACT</a:t>
            </a:r>
          </a:p>
        </p:txBody>
      </p:sp>
      <p:pic>
        <p:nvPicPr>
          <p:cNvPr id="4" name="Picture 3" descr="page_2_img_1_391x259.jpeg"/>
          <p:cNvPicPr>
            <a:picLocks noChangeAspect="1"/>
          </p:cNvPicPr>
          <p:nvPr/>
        </p:nvPicPr>
        <p:blipFill>
          <a:blip r:embed="rId2"/>
          <a:stretch>
            <a:fillRect/>
          </a:stretch>
        </p:blipFill>
        <p:spPr>
          <a:xfrm>
            <a:off x="10241280" y="365760"/>
            <a:ext cx="1371600" cy="908553"/>
          </a:xfrm>
          <a:prstGeom prst="rect">
            <a:avLst/>
          </a:prstGeom>
        </p:spPr>
      </p:pic>
      <p:sp>
        <p:nvSpPr>
          <p:cNvPr id="5" name="Rounded Rectangle 4"/>
          <p:cNvSpPr/>
          <p:nvPr/>
        </p:nvSpPr>
        <p:spPr>
          <a:xfrm>
            <a:off x="731520" y="1463040"/>
            <a:ext cx="5212080" cy="484632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The Forensic Problem: Why Host Logs Lie</a:t>
            </a:r>
          </a:p>
          <a:p>
            <a:pPr>
              <a:spcAft>
                <a:spcPts val="600"/>
              </a:spcAft>
            </a:pPr>
            <a:r>
              <a:rPr b="1" sz="1150">
                <a:solidFill>
                  <a:srgbClr val="00E5FF"/>
                </a:solidFill>
              </a:rPr>
              <a:t>• Host Logs Trust Blindly: </a:t>
            </a:r>
            <a:r>
              <a:rPr sz="1100">
                <a:solidFill>
                  <a:srgbClr val="FFFFFF"/>
                </a:solidFill>
              </a:rPr>
              <a:t>Tools like Sysmon and Linux auditd record system calls at the OS kernel boundary.</a:t>
            </a:r>
          </a:p>
          <a:p>
            <a:pPr>
              <a:spcAft>
                <a:spcPts val="600"/>
              </a:spcAft>
            </a:pPr>
            <a:r>
              <a:rPr b="1" sz="1150">
                <a:solidFill>
                  <a:srgbClr val="00E5FF"/>
                </a:solidFill>
              </a:rPr>
              <a:t>• The write() Illusion: </a:t>
            </a:r>
            <a:r>
              <a:rPr sz="1100">
                <a:solidFill>
                  <a:srgbClr val="FFFFFF"/>
                </a:solidFill>
              </a:rPr>
              <a:t>When malware calls write(sock, buf, 4096), the OS returns 4096 bytes as soon as data enters local RAM buffer (SO_SNDBUF).</a:t>
            </a:r>
          </a:p>
          <a:p>
            <a:pPr>
              <a:spcAft>
                <a:spcPts val="600"/>
              </a:spcAft>
            </a:pPr>
            <a:r>
              <a:rPr b="1" sz="1150">
                <a:solidFill>
                  <a:srgbClr val="00E5FF"/>
                </a:solidFill>
              </a:rPr>
              <a:t>• The Missing Proof: </a:t>
            </a:r>
            <a:r>
              <a:rPr sz="1100">
                <a:solidFill>
                  <a:srgbClr val="FFFFFF"/>
                </a:solidFill>
              </a:rPr>
              <a:t>A successful write() return value does NOT prove that packets reached the wire or that the remote server accepted them.</a:t>
            </a:r>
          </a:p>
          <a:p>
            <a:pPr>
              <a:spcAft>
                <a:spcPts val="600"/>
              </a:spcAft>
            </a:pPr>
            <a:r>
              <a:rPr b="1" sz="1150">
                <a:solidFill>
                  <a:srgbClr val="00E5FF"/>
                </a:solidFill>
              </a:rPr>
              <a:t>• Causal Over-Approximation: </a:t>
            </a:r>
            <a:r>
              <a:rPr sz="1100">
                <a:solidFill>
                  <a:srgbClr val="FFFFFF"/>
                </a:solidFill>
              </a:rPr>
              <a:t>If the target port was closed or blocked by a firewall, traditional tools still draw a red line saying exfiltration succeeded.</a:t>
            </a:r>
          </a:p>
          <a:p>
            <a:pPr>
              <a:spcAft>
                <a:spcPts val="600"/>
              </a:spcAft>
            </a:pPr>
            <a:r>
              <a:rPr b="1" sz="1150">
                <a:solidFill>
                  <a:srgbClr val="00E5FF"/>
                </a:solidFill>
              </a:rPr>
              <a:t>• Absence of Evidence: </a:t>
            </a:r>
            <a:r>
              <a:rPr sz="1100">
                <a:solidFill>
                  <a:srgbClr val="FFFFFF"/>
                </a:solidFill>
              </a:rPr>
              <a:t>Failing to see a packet on a tap does not prove an attack never happened (e.g. unmonitored subnet or packet drops).</a:t>
            </a:r>
          </a:p>
        </p:txBody>
      </p:sp>
      <p:sp>
        <p:nvSpPr>
          <p:cNvPr id="6" name="Rounded Rectangle 5"/>
          <p:cNvSpPr/>
          <p:nvPr/>
        </p:nvSpPr>
        <p:spPr>
          <a:xfrm>
            <a:off x="6217920" y="1463040"/>
            <a:ext cx="5212080" cy="484632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The TrueTrace Solution: Invariant Arbitration</a:t>
            </a:r>
          </a:p>
          <a:p>
            <a:pPr>
              <a:spcAft>
                <a:spcPts val="500"/>
              </a:spcAft>
            </a:pPr>
            <a:r>
              <a:rPr b="1" sz="1150">
                <a:solidFill>
                  <a:srgbClr val="00E5FF"/>
                </a:solidFill>
              </a:rPr>
              <a:t>• Claims as Hypotheses: </a:t>
            </a:r>
            <a:r>
              <a:rPr sz="1100">
                <a:solidFill>
                  <a:srgbClr val="FFFFFF"/>
                </a:solidFill>
              </a:rPr>
              <a:t>Host-reported network events are treated as candidate hypotheses, not established ground truth.</a:t>
            </a:r>
          </a:p>
          <a:p>
            <a:pPr>
              <a:spcAft>
                <a:spcPts val="500"/>
              </a:spcAft>
            </a:pPr>
            <a:r>
              <a:rPr b="1" sz="1150">
                <a:solidFill>
                  <a:srgbClr val="00E5FF"/>
                </a:solidFill>
              </a:rPr>
              <a:t>• Independent Wire Corroboration: </a:t>
            </a:r>
            <a:r>
              <a:rPr sz="1100">
                <a:solidFill>
                  <a:srgbClr val="FFFFFF"/>
                </a:solidFill>
              </a:rPr>
              <a:t>Cross-checks each claim against independent PCAP captures using RFC 793 transport rules.</a:t>
            </a:r>
          </a:p>
          <a:p>
            <a:pPr>
              <a:spcAft>
                <a:spcPts val="500"/>
              </a:spcAft>
            </a:pPr>
            <a:r>
              <a:rPr b="1" sz="1150">
                <a:solidFill>
                  <a:srgbClr val="00E5FF"/>
                </a:solidFill>
              </a:rPr>
              <a:t>• Observability-Aware Modeling: </a:t>
            </a:r>
            <a:r>
              <a:rPr sz="1100">
                <a:solidFill>
                  <a:srgbClr val="FFFFFF"/>
                </a:solidFill>
              </a:rPr>
              <a:t>Registers sensor CIDR ranges and hardware packet loss flags to model the visibility envelope.</a:t>
            </a:r>
          </a:p>
          <a:p>
            <a:pPr>
              <a:spcAft>
                <a:spcPts val="500"/>
              </a:spcAft>
            </a:pPr>
            <a:r>
              <a:rPr b="1" sz="1150">
                <a:solidFill>
                  <a:srgbClr val="00E5FF"/>
                </a:solidFill>
              </a:rPr>
              <a:t>• 3-Valued Verdict System: </a:t>
            </a:r>
            <a:r>
              <a:rPr sz="1100">
                <a:solidFill>
                  <a:srgbClr val="FFFFFF"/>
                </a:solidFill>
              </a:rPr>
              <a:t/>
            </a:r>
          </a:p>
          <a:p>
            <a:pPr>
              <a:spcAft>
                <a:spcPts val="500"/>
              </a:spcAft>
            </a:pPr>
            <a:r>
              <a:rPr b="1" sz="1150">
                <a:solidFill>
                  <a:srgbClr val="10B981"/>
                </a:solidFill>
              </a:rPr>
              <a:t>  - SUPPORTED: </a:t>
            </a:r>
            <a:r>
              <a:rPr sz="1100">
                <a:solidFill>
                  <a:srgbClr val="FFFFFF"/>
                </a:solidFill>
              </a:rPr>
              <a:t>Verified by complete 3-way handshake and acknowledged payload frames.</a:t>
            </a:r>
          </a:p>
          <a:p>
            <a:pPr>
              <a:spcAft>
                <a:spcPts val="500"/>
              </a:spcAft>
            </a:pPr>
            <a:r>
              <a:rPr b="1" sz="1150">
                <a:solidFill>
                  <a:srgbClr val="EF4444"/>
                </a:solidFill>
              </a:rPr>
              <a:t>  - CONTRADICTED: </a:t>
            </a:r>
            <a:r>
              <a:rPr sz="1100">
                <a:solidFill>
                  <a:srgbClr val="FFFFFF"/>
                </a:solidFill>
              </a:rPr>
              <a:t>Disproven by TCP Reset (RST/ACK) or timeout on monitored wire.</a:t>
            </a:r>
          </a:p>
          <a:p>
            <a:pPr>
              <a:spcAft>
                <a:spcPts val="500"/>
              </a:spcAft>
            </a:pPr>
            <a:r>
              <a:rPr b="1" sz="1150">
                <a:solidFill>
                  <a:srgbClr val="F59E0B"/>
                </a:solidFill>
              </a:rPr>
              <a:t>  - UNRESOLVED: </a:t>
            </a:r>
            <a:r>
              <a:rPr sz="1100">
                <a:solidFill>
                  <a:srgbClr val="FFFFFF"/>
                </a:solidFill>
              </a:rPr>
              <a:t>Preserves uncertainty when events occur outside sensor visibility.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7772400" cy="868680"/>
          </a:xfrm>
          <a:prstGeom prst="roundRect">
            <a:avLst/>
          </a:prstGeom>
          <a:solidFill>
            <a:srgbClr val="1122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sz="2200" b="1">
                <a:solidFill>
                  <a:srgbClr val="FFFFFF"/>
                </a:solidFill>
                <a:latin typeface="Segoe UI"/>
              </a:defRPr>
            </a:pPr>
            <a:r>
              <a:t>SYSTEM ARCHITECTURE</a:t>
            </a:r>
          </a:p>
          <a:p>
            <a:pPr>
              <a:defRPr sz="1100" b="1">
                <a:solidFill>
                  <a:srgbClr val="00E5FF"/>
                </a:solidFill>
                <a:latin typeface="Arial"/>
              </a:defRPr>
            </a:pPr>
            <a:r>
              <a:t>SECTION 3: SYSTEM ARCHITECTURE</a:t>
            </a:r>
          </a:p>
        </p:txBody>
      </p:sp>
      <p:pic>
        <p:nvPicPr>
          <p:cNvPr id="4" name="Picture 3" descr="page_2_img_1_391x259.jpeg"/>
          <p:cNvPicPr>
            <a:picLocks noChangeAspect="1"/>
          </p:cNvPicPr>
          <p:nvPr/>
        </p:nvPicPr>
        <p:blipFill>
          <a:blip r:embed="rId2"/>
          <a:stretch>
            <a:fillRect/>
          </a:stretch>
        </p:blipFill>
        <p:spPr>
          <a:xfrm>
            <a:off x="10241280" y="365760"/>
            <a:ext cx="1371600" cy="908553"/>
          </a:xfrm>
          <a:prstGeom prst="rect">
            <a:avLst/>
          </a:prstGeom>
        </p:spPr>
      </p:pic>
      <p:sp>
        <p:nvSpPr>
          <p:cNvPr id="5" name="Rounded Rectangle 4"/>
          <p:cNvSpPr/>
          <p:nvPr/>
        </p:nvSpPr>
        <p:spPr>
          <a:xfrm>
            <a:off x="731520" y="1463040"/>
            <a:ext cx="4389120" cy="484632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Modular 4-Layer Architecture</a:t>
            </a:r>
          </a:p>
          <a:p>
            <a:pPr>
              <a:spcAft>
                <a:spcPts val="800"/>
              </a:spcAft>
            </a:pPr>
            <a:r>
              <a:rPr b="1" sz="1150">
                <a:solidFill>
                  <a:srgbClr val="00E5FF"/>
                </a:solidFill>
              </a:rPr>
              <a:t>• 1. Evidence Ingestion:
  </a:t>
            </a:r>
            <a:r>
              <a:rPr sz="1050">
                <a:solidFill>
                  <a:srgbClr val="FFFFFF"/>
                </a:solidFill>
              </a:rPr>
              <a:t>Ingests host logs (Sysmon, auditd, DARPA TC JSON) and network traces (PCAP/PCAPNG), hashing them with SHA-256 for chain of custody.</a:t>
            </a:r>
          </a:p>
          <a:p>
            <a:pPr>
              <a:spcAft>
                <a:spcPts val="800"/>
              </a:spcAft>
            </a:pPr>
            <a:r>
              <a:rPr b="1" sz="1150">
                <a:solidFill>
                  <a:srgbClr val="00E5FF"/>
                </a:solidFill>
              </a:rPr>
              <a:t>• 2. Parsers &amp; Normalization:
  </a:t>
            </a:r>
            <a:r>
              <a:rPr sz="1050">
                <a:solidFill>
                  <a:srgbClr val="FFFFFF"/>
                </a:solidFill>
              </a:rPr>
              <a:t>A custom pure-Python Libpcap parser extracts 5-tuples and TCP flags; host parser synthesizes candidate network hypotheses.</a:t>
            </a:r>
          </a:p>
          <a:p>
            <a:pPr>
              <a:spcAft>
                <a:spcPts val="800"/>
              </a:spcAft>
            </a:pPr>
            <a:r>
              <a:rPr b="1" sz="1150">
                <a:solidFill>
                  <a:srgbClr val="00E5FF"/>
                </a:solidFill>
              </a:rPr>
              <a:t>• 3. Invariant Arbitration Engine:
  </a:t>
            </a:r>
            <a:r>
              <a:rPr sz="1050">
                <a:solidFill>
                  <a:srgbClr val="FFFFFF"/>
                </a:solidFill>
              </a:rPr>
              <a:t>Correlates host claims with wire frames using temporal tolerances (+/-2.0s) and checks sensor CIDR coverage.</a:t>
            </a:r>
          </a:p>
          <a:p>
            <a:pPr>
              <a:spcAft>
                <a:spcPts val="800"/>
              </a:spcAft>
            </a:pPr>
            <a:r>
              <a:rPr b="1" sz="1150">
                <a:solidFill>
                  <a:srgbClr val="00E5FF"/>
                </a:solidFill>
              </a:rPr>
              <a:t>• 4. Refined Graph &amp; UI:
  </a:t>
            </a:r>
            <a:r>
              <a:rPr sz="1050">
                <a:solidFill>
                  <a:srgbClr val="FFFFFF"/>
                </a:solidFill>
              </a:rPr>
              <a:t>Generates refined attack graphs via React 19 and @xyflow/react, pruning falsified edges and preserving unresolved edges.</a:t>
            </a:r>
          </a:p>
        </p:txBody>
      </p:sp>
      <p:sp>
        <p:nvSpPr>
          <p:cNvPr id="6" name="Rounded Rectangle 5"/>
          <p:cNvSpPr/>
          <p:nvPr/>
        </p:nvSpPr>
        <p:spPr>
          <a:xfrm>
            <a:off x="5303520" y="1463040"/>
            <a:ext cx="6126480" cy="484632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Architectural Pipeline Diagram</a:t>
            </a:r>
          </a:p>
        </p:txBody>
      </p:sp>
      <p:pic>
        <p:nvPicPr>
          <p:cNvPr id="7" name="Picture 6" descr="fig_3_1_architecture.png"/>
          <p:cNvPicPr>
            <a:picLocks noChangeAspect="1"/>
          </p:cNvPicPr>
          <p:nvPr/>
        </p:nvPicPr>
        <p:blipFill>
          <a:blip r:embed="rId3"/>
          <a:stretch>
            <a:fillRect/>
          </a:stretch>
        </p:blipFill>
        <p:spPr>
          <a:xfrm>
            <a:off x="5440680" y="2011680"/>
            <a:ext cx="5852160" cy="289165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7772400" cy="868680"/>
          </a:xfrm>
          <a:prstGeom prst="roundRect">
            <a:avLst/>
          </a:prstGeom>
          <a:solidFill>
            <a:srgbClr val="1122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sz="2200" b="1">
                <a:solidFill>
                  <a:srgbClr val="FFFFFF"/>
                </a:solidFill>
                <a:latin typeface="Segoe UI"/>
              </a:defRPr>
            </a:pPr>
            <a:r>
              <a:t>DESIGN METHODOLOGY &amp; INVARIANTS</a:t>
            </a:r>
          </a:p>
          <a:p>
            <a:pPr>
              <a:defRPr sz="1100" b="1">
                <a:solidFill>
                  <a:srgbClr val="00E5FF"/>
                </a:solidFill>
                <a:latin typeface="Arial"/>
              </a:defRPr>
            </a:pPr>
            <a:r>
              <a:t>SECTION 3: DESIGN METHODOLOGY</a:t>
            </a:r>
          </a:p>
        </p:txBody>
      </p:sp>
      <p:pic>
        <p:nvPicPr>
          <p:cNvPr id="4" name="Picture 3" descr="page_2_img_1_391x259.jpeg"/>
          <p:cNvPicPr>
            <a:picLocks noChangeAspect="1"/>
          </p:cNvPicPr>
          <p:nvPr/>
        </p:nvPicPr>
        <p:blipFill>
          <a:blip r:embed="rId2"/>
          <a:stretch>
            <a:fillRect/>
          </a:stretch>
        </p:blipFill>
        <p:spPr>
          <a:xfrm>
            <a:off x="10241280" y="365760"/>
            <a:ext cx="1371600" cy="908553"/>
          </a:xfrm>
          <a:prstGeom prst="rect">
            <a:avLst/>
          </a:prstGeom>
        </p:spPr>
      </p:pic>
      <p:sp>
        <p:nvSpPr>
          <p:cNvPr id="5" name="Rounded Rectangle 4"/>
          <p:cNvSpPr/>
          <p:nvPr/>
        </p:nvSpPr>
        <p:spPr>
          <a:xfrm>
            <a:off x="731520" y="1463040"/>
            <a:ext cx="5029200" cy="484632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RFC 793 Transport Invariants</a:t>
            </a:r>
          </a:p>
          <a:p>
            <a:pPr>
              <a:spcAft>
                <a:spcPts val="400"/>
              </a:spcAft>
            </a:pPr>
            <a:r>
              <a:rPr sz="1000" b="1">
                <a:solidFill>
                  <a:srgbClr val="00E5FF"/>
                </a:solidFill>
              </a:rPr>
              <a:t>• INV-TCP-01 (Handshake):
  SYN + SYN-ACK + ACK completed on wire -&gt; </a:t>
            </a:r>
            <a:r>
              <a:rPr b="1" sz="1000">
                <a:solidFill>
                  <a:srgbClr val="10B981"/>
                </a:solidFill>
              </a:rPr>
              <a:t>SUPPORTED</a:t>
            </a:r>
          </a:p>
          <a:p>
            <a:pPr>
              <a:spcAft>
                <a:spcPts val="400"/>
              </a:spcAft>
            </a:pPr>
            <a:r>
              <a:rPr sz="1000" b="1">
                <a:solidFill>
                  <a:srgbClr val="00E5FF"/>
                </a:solidFill>
              </a:rPr>
              <a:t>• INV-TCP-02 (Port Refusal):
  Target replied with RST/ACK (port closed) -&gt; </a:t>
            </a:r>
            <a:r>
              <a:rPr b="1" sz="1000">
                <a:solidFill>
                  <a:srgbClr val="EF4444"/>
                </a:solidFill>
              </a:rPr>
              <a:t>CONTRADICTED</a:t>
            </a:r>
          </a:p>
          <a:p>
            <a:pPr>
              <a:spcAft>
                <a:spcPts val="400"/>
              </a:spcAft>
            </a:pPr>
            <a:r>
              <a:rPr sz="1000" b="1">
                <a:solidFill>
                  <a:srgbClr val="00E5FF"/>
                </a:solidFill>
              </a:rPr>
              <a:t>• INV-DATA-01 (Payload ACK):
  Data segment ACKed by TCP sequence numbers -&gt; </a:t>
            </a:r>
            <a:r>
              <a:rPr b="1" sz="1000">
                <a:solidFill>
                  <a:srgbClr val="10B981"/>
                </a:solidFill>
              </a:rPr>
              <a:t>SUPPORTED</a:t>
            </a:r>
          </a:p>
          <a:p>
            <a:pPr>
              <a:spcAft>
                <a:spcPts val="400"/>
              </a:spcAft>
            </a:pPr>
            <a:r>
              <a:rPr sz="1000" b="1">
                <a:solidFill>
                  <a:srgbClr val="00E5FF"/>
                </a:solidFill>
              </a:rPr>
              <a:t>• INV-DATA-02 (Buffered Reset):
  write() returned success, but wire recorded RST -&gt; </a:t>
            </a:r>
            <a:r>
              <a:rPr b="1" sz="1000">
                <a:solidFill>
                  <a:srgbClr val="EF4444"/>
                </a:solidFill>
              </a:rPr>
              <a:t>CONTRADICTED</a:t>
            </a:r>
          </a:p>
          <a:p>
            <a:pPr>
              <a:spcAft>
                <a:spcPts val="400"/>
              </a:spcAft>
            </a:pPr>
            <a:r>
              <a:rPr sz="1000" b="1">
                <a:solidFill>
                  <a:srgbClr val="00E5FF"/>
                </a:solidFill>
              </a:rPr>
              <a:t>• INV-OBS-01 (Time Blindspot):
  Event occurred outside sensor capture window -&gt; </a:t>
            </a:r>
            <a:r>
              <a:rPr b="1" sz="1000">
                <a:solidFill>
                  <a:srgbClr val="F59E0B"/>
                </a:solidFill>
              </a:rPr>
              <a:t>UNRESOLVED</a:t>
            </a:r>
          </a:p>
          <a:p>
            <a:pPr>
              <a:spcAft>
                <a:spcPts val="400"/>
              </a:spcAft>
            </a:pPr>
            <a:r>
              <a:rPr sz="1000" b="1">
                <a:solidFill>
                  <a:srgbClr val="00E5FF"/>
                </a:solidFill>
              </a:rPr>
              <a:t>• INV-OBS-02 (CIDR Blindspot):
  Target IP outside monitored sensor subnets -&gt; </a:t>
            </a:r>
            <a:r>
              <a:rPr b="1" sz="1000">
                <a:solidFill>
                  <a:srgbClr val="F59E0B"/>
                </a:solidFill>
              </a:rPr>
              <a:t>UNRESOLVED</a:t>
            </a:r>
          </a:p>
          <a:p>
            <a:pPr>
              <a:spcAft>
                <a:spcPts val="400"/>
              </a:spcAft>
            </a:pPr>
            <a:r>
              <a:rPr sz="1000" b="1">
                <a:solidFill>
                  <a:srgbClr val="00E5FF"/>
                </a:solidFill>
              </a:rPr>
              <a:t>• INV-OBS-03 (Hardware Loss):
  Sensor recorded NIC ring buffer packet drops -&gt; </a:t>
            </a:r>
            <a:r>
              <a:rPr b="1" sz="1000">
                <a:solidFill>
                  <a:srgbClr val="F59E0B"/>
                </a:solidFill>
              </a:rPr>
              <a:t>UNRESOLVED</a:t>
            </a:r>
          </a:p>
        </p:txBody>
      </p:sp>
      <p:sp>
        <p:nvSpPr>
          <p:cNvPr id="6" name="Rounded Rectangle 5"/>
          <p:cNvSpPr/>
          <p:nvPr/>
        </p:nvSpPr>
        <p:spPr>
          <a:xfrm>
            <a:off x="5943600" y="1463040"/>
            <a:ext cx="5486400" cy="484632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Observability Decision Tree</a:t>
            </a:r>
          </a:p>
        </p:txBody>
      </p:sp>
      <p:pic>
        <p:nvPicPr>
          <p:cNvPr id="7" name="Picture 6" descr="fig_4_1_observability_flow.png"/>
          <p:cNvPicPr>
            <a:picLocks noChangeAspect="1"/>
          </p:cNvPicPr>
          <p:nvPr/>
        </p:nvPicPr>
        <p:blipFill>
          <a:blip r:embed="rId3"/>
          <a:stretch>
            <a:fillRect/>
          </a:stretch>
        </p:blipFill>
        <p:spPr>
          <a:xfrm>
            <a:off x="6080760" y="2011680"/>
            <a:ext cx="5212080" cy="250179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7772400" cy="868680"/>
          </a:xfrm>
          <a:prstGeom prst="roundRect">
            <a:avLst/>
          </a:prstGeom>
          <a:solidFill>
            <a:srgbClr val="1122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sz="2200" b="1">
                <a:solidFill>
                  <a:srgbClr val="FFFFFF"/>
                </a:solidFill>
                <a:latin typeface="Segoe UI"/>
              </a:defRPr>
            </a:pPr>
            <a:r>
              <a:t>IMPLEMENTATION: FORENSIC WORKBENCH</a:t>
            </a:r>
          </a:p>
          <a:p>
            <a:pPr>
              <a:defRPr sz="1100" b="1">
                <a:solidFill>
                  <a:srgbClr val="00E5FF"/>
                </a:solidFill>
                <a:latin typeface="Arial"/>
              </a:defRPr>
            </a:pPr>
            <a:r>
              <a:t>SECTION 4: IMPLEMENTATION (80%+ COMPLETE)</a:t>
            </a:r>
          </a:p>
        </p:txBody>
      </p:sp>
      <p:pic>
        <p:nvPicPr>
          <p:cNvPr id="4" name="Picture 3" descr="page_2_img_1_391x259.jpeg"/>
          <p:cNvPicPr>
            <a:picLocks noChangeAspect="1"/>
          </p:cNvPicPr>
          <p:nvPr/>
        </p:nvPicPr>
        <p:blipFill>
          <a:blip r:embed="rId2"/>
          <a:stretch>
            <a:fillRect/>
          </a:stretch>
        </p:blipFill>
        <p:spPr>
          <a:xfrm>
            <a:off x="10241280" y="365760"/>
            <a:ext cx="1371600" cy="908553"/>
          </a:xfrm>
          <a:prstGeom prst="rect">
            <a:avLst/>
          </a:prstGeom>
        </p:spPr>
      </p:pic>
      <p:sp>
        <p:nvSpPr>
          <p:cNvPr id="5" name="Rounded Rectangle 4"/>
          <p:cNvSpPr/>
          <p:nvPr/>
        </p:nvSpPr>
        <p:spPr>
          <a:xfrm>
            <a:off x="731520" y="1463040"/>
            <a:ext cx="4389120" cy="484632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Full-Stack Implementation (100% Operational)</a:t>
            </a:r>
          </a:p>
          <a:p>
            <a:pPr>
              <a:spcAft>
                <a:spcPts val="800"/>
              </a:spcAft>
            </a:pPr>
            <a:r>
              <a:rPr b="1" sz="1100">
                <a:solidFill>
                  <a:srgbClr val="00E5FF"/>
                </a:solidFill>
              </a:rPr>
              <a:t>• Backend Framework:
  </a:t>
            </a:r>
            <a:r>
              <a:rPr sz="1050">
                <a:solidFill>
                  <a:srgbClr val="FFFFFF"/>
                </a:solidFill>
              </a:rPr>
              <a:t>FastAPI (Python 3.12/3.14) with Pydantic validation and SQLite relational persistence in WAL mode.</a:t>
            </a:r>
          </a:p>
          <a:p>
            <a:pPr>
              <a:spcAft>
                <a:spcPts val="800"/>
              </a:spcAft>
            </a:pPr>
            <a:r>
              <a:rPr b="1" sz="1100">
                <a:solidFill>
                  <a:srgbClr val="00E5FF"/>
                </a:solidFill>
              </a:rPr>
              <a:t>• Pure-Python PCAP Parser:
  </a:t>
            </a:r>
            <a:r>
              <a:rPr sz="1050">
                <a:solidFill>
                  <a:srgbClr val="FFFFFF"/>
                </a:solidFill>
              </a:rPr>
              <a:t>Zero native C-dependencies; directly parses global pcap headers and packet records with microsecond timestamps.</a:t>
            </a:r>
          </a:p>
          <a:p>
            <a:pPr>
              <a:spcAft>
                <a:spcPts val="800"/>
              </a:spcAft>
            </a:pPr>
            <a:r>
              <a:rPr b="1" sz="1100">
                <a:solidFill>
                  <a:srgbClr val="00E5FF"/>
                </a:solidFill>
              </a:rPr>
              <a:t>• Frontend Workbench:
  </a:t>
            </a:r>
            <a:r>
              <a:rPr sz="1050">
                <a:solidFill>
                  <a:srgbClr val="FFFFFF"/>
                </a:solidFill>
              </a:rPr>
              <a:t>React 19 + TypeScript + Tailwind CSS with interactive graph rendering using @xyflow/react.</a:t>
            </a:r>
          </a:p>
          <a:p>
            <a:pPr>
              <a:spcAft>
                <a:spcPts val="800"/>
              </a:spcAft>
            </a:pPr>
            <a:r>
              <a:rPr b="1" sz="1100">
                <a:solidFill>
                  <a:srgbClr val="00E5FF"/>
                </a:solidFill>
              </a:rPr>
              <a:t>• 8 Functional Views:
  </a:t>
            </a:r>
            <a:r>
              <a:rPr sz="1050">
                <a:solidFill>
                  <a:srgbClr val="FFFFFF"/>
                </a:solidFill>
              </a:rPr>
              <a:t>Evidence Sources, Attack Graphs, Claim Inspector, Evidence Explorer, Sensor Matrix, Scenarios, and Reports.</a:t>
            </a:r>
          </a:p>
          <a:p>
            <a:pPr>
              <a:spcAft>
                <a:spcPts val="800"/>
              </a:spcAft>
            </a:pPr>
            <a:r>
              <a:rPr b="1" sz="1100">
                <a:solidFill>
                  <a:srgbClr val="00E5FF"/>
                </a:solidFill>
              </a:rPr>
              <a:t>• Automated Tests:
  </a:t>
            </a:r>
            <a:r>
              <a:rPr sz="1050">
                <a:solidFill>
                  <a:srgbClr val="FFFFFF"/>
                </a:solidFill>
              </a:rPr>
              <a:t>18 automated pytest suites validating parsers, invariants, and graph refinement.</a:t>
            </a:r>
          </a:p>
        </p:txBody>
      </p:sp>
      <p:sp>
        <p:nvSpPr>
          <p:cNvPr id="6" name="Rounded Rectangle 5"/>
          <p:cNvSpPr/>
          <p:nvPr/>
        </p:nvSpPr>
        <p:spPr>
          <a:xfrm>
            <a:off x="5303520" y="1463040"/>
            <a:ext cx="6126480" cy="484632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Live Verification Workbench (React 19 UI)</a:t>
            </a:r>
          </a:p>
        </p:txBody>
      </p:sp>
      <p:pic>
        <p:nvPicPr>
          <p:cNvPr id="7" name="Picture 6" descr="fig_6_1_dashboard.png"/>
          <p:cNvPicPr>
            <a:picLocks noChangeAspect="1"/>
          </p:cNvPicPr>
          <p:nvPr/>
        </p:nvPicPr>
        <p:blipFill>
          <a:blip r:embed="rId3"/>
          <a:stretch>
            <a:fillRect/>
          </a:stretch>
        </p:blipFill>
        <p:spPr>
          <a:xfrm>
            <a:off x="5440680" y="2011680"/>
            <a:ext cx="5852160" cy="251395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7772400" cy="868680"/>
          </a:xfrm>
          <a:prstGeom prst="roundRect">
            <a:avLst/>
          </a:prstGeom>
          <a:solidFill>
            <a:srgbClr val="1122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sz="2200" b="1">
                <a:solidFill>
                  <a:srgbClr val="FFFFFF"/>
                </a:solidFill>
                <a:latin typeface="Segoe UI"/>
              </a:defRPr>
            </a:pPr>
            <a:r>
              <a:t>IMPLEMENTATION: GRAPH REFINEMENT</a:t>
            </a:r>
          </a:p>
          <a:p>
            <a:pPr>
              <a:defRPr sz="1100" b="1">
                <a:solidFill>
                  <a:srgbClr val="00E5FF"/>
                </a:solidFill>
                <a:latin typeface="Arial"/>
              </a:defRPr>
            </a:pPr>
            <a:r>
              <a:t>SECTION 4: IMPLEMENTATION (VISUAL RESULTS)</a:t>
            </a:r>
          </a:p>
        </p:txBody>
      </p:sp>
      <p:pic>
        <p:nvPicPr>
          <p:cNvPr id="4" name="Picture 3" descr="page_2_img_1_391x259.jpeg"/>
          <p:cNvPicPr>
            <a:picLocks noChangeAspect="1"/>
          </p:cNvPicPr>
          <p:nvPr/>
        </p:nvPicPr>
        <p:blipFill>
          <a:blip r:embed="rId2"/>
          <a:stretch>
            <a:fillRect/>
          </a:stretch>
        </p:blipFill>
        <p:spPr>
          <a:xfrm>
            <a:off x="10241280" y="365760"/>
            <a:ext cx="1371600" cy="908553"/>
          </a:xfrm>
          <a:prstGeom prst="rect">
            <a:avLst/>
          </a:prstGeom>
        </p:spPr>
      </p:pic>
      <p:sp>
        <p:nvSpPr>
          <p:cNvPr id="5" name="Rounded Rectangle 4"/>
          <p:cNvSpPr/>
          <p:nvPr/>
        </p:nvSpPr>
        <p:spPr>
          <a:xfrm>
            <a:off x="731520" y="1463040"/>
            <a:ext cx="5212080" cy="484632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Candidate Graph (Host Hypotheses Only)</a:t>
            </a:r>
          </a:p>
        </p:txBody>
      </p:sp>
      <p:pic>
        <p:nvPicPr>
          <p:cNvPr id="6" name="Picture 5" descr="fig_6_2_candidate_graph.png"/>
          <p:cNvPicPr>
            <a:picLocks noChangeAspect="1"/>
          </p:cNvPicPr>
          <p:nvPr/>
        </p:nvPicPr>
        <p:blipFill>
          <a:blip r:embed="rId3"/>
          <a:stretch>
            <a:fillRect/>
          </a:stretch>
        </p:blipFill>
        <p:spPr>
          <a:xfrm>
            <a:off x="868680" y="2011680"/>
            <a:ext cx="4937760" cy="1951149"/>
          </a:xfrm>
          <a:prstGeom prst="rect">
            <a:avLst/>
          </a:prstGeom>
        </p:spPr>
      </p:pic>
      <p:sp>
        <p:nvSpPr>
          <p:cNvPr id="7" name="TextBox 6"/>
          <p:cNvSpPr txBox="1"/>
          <p:nvPr/>
        </p:nvSpPr>
        <p:spPr>
          <a:xfrm>
            <a:off x="868680" y="5120640"/>
            <a:ext cx="4937760" cy="1005840"/>
          </a:xfrm>
          <a:prstGeom prst="rect">
            <a:avLst/>
          </a:prstGeom>
          <a:noFill/>
        </p:spPr>
        <p:txBody>
          <a:bodyPr wrap="square">
            <a:spAutoFit/>
          </a:bodyPr>
          <a:lstStyle/>
          <a:p>
            <a:pPr>
              <a:defRPr sz="1050">
                <a:solidFill>
                  <a:srgbClr val="94A3B8"/>
                </a:solidFill>
              </a:defRPr>
            </a:pPr>
            <a:r>
              <a:t>• Conflates every socket call with successful network transmission.</a:t>
            </a:r>
            <a:br/>
            <a:r>
              <a:t>• High causal over-approximation and false positive edges.</a:t>
            </a:r>
          </a:p>
        </p:txBody>
      </p:sp>
      <p:sp>
        <p:nvSpPr>
          <p:cNvPr id="8" name="Rounded Rectangle 7"/>
          <p:cNvSpPr/>
          <p:nvPr/>
        </p:nvSpPr>
        <p:spPr>
          <a:xfrm>
            <a:off x="6217920" y="1463040"/>
            <a:ext cx="5212080" cy="484632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Refined Graph (After Invariant Arbitration)</a:t>
            </a:r>
          </a:p>
        </p:txBody>
      </p:sp>
      <p:pic>
        <p:nvPicPr>
          <p:cNvPr id="9" name="Picture 8" descr="fig_6_3_refined_graph.png"/>
          <p:cNvPicPr>
            <a:picLocks noChangeAspect="1"/>
          </p:cNvPicPr>
          <p:nvPr/>
        </p:nvPicPr>
        <p:blipFill>
          <a:blip r:embed="rId4"/>
          <a:stretch>
            <a:fillRect/>
          </a:stretch>
        </p:blipFill>
        <p:spPr>
          <a:xfrm>
            <a:off x="6355080" y="2011680"/>
            <a:ext cx="4937760" cy="2131074"/>
          </a:xfrm>
          <a:prstGeom prst="rect">
            <a:avLst/>
          </a:prstGeom>
        </p:spPr>
      </p:pic>
      <p:sp>
        <p:nvSpPr>
          <p:cNvPr id="10" name="TextBox 9"/>
          <p:cNvSpPr txBox="1"/>
          <p:nvPr/>
        </p:nvSpPr>
        <p:spPr>
          <a:xfrm>
            <a:off x="6355080" y="5120640"/>
            <a:ext cx="4937760" cy="1005840"/>
          </a:xfrm>
          <a:prstGeom prst="rect">
            <a:avLst/>
          </a:prstGeom>
          <a:noFill/>
        </p:spPr>
        <p:txBody>
          <a:bodyPr wrap="square">
            <a:spAutoFit/>
          </a:bodyPr>
          <a:lstStyle/>
          <a:p>
            <a:pPr>
              <a:defRPr sz="1050">
                <a:solidFill>
                  <a:srgbClr val="00E5FF"/>
                </a:solidFill>
              </a:defRPr>
            </a:pPr>
            <a:r>
              <a:t>• Solid Green: Verified by TCP handshakes &amp; ACKed payload.</a:t>
            </a:r>
            <a:br/>
            <a:r>
              <a:t>• Pruned: Falsified connections removed (e.g. port refusals).</a:t>
            </a:r>
            <a:br/>
            <a:r>
              <a:t>• Dashed Orange: Unresolved claims preserved with visibility warnings.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7772400" cy="868680"/>
          </a:xfrm>
          <a:prstGeom prst="roundRect">
            <a:avLst/>
          </a:prstGeom>
          <a:solidFill>
            <a:srgbClr val="1122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sz="2200" b="1">
                <a:solidFill>
                  <a:srgbClr val="FFFFFF"/>
                </a:solidFill>
                <a:latin typeface="Segoe UI"/>
              </a:defRPr>
            </a:pPr>
            <a:r>
              <a:t>SENSOR OBSERVABILITY &amp; CLAIM AUDIT</a:t>
            </a:r>
          </a:p>
          <a:p>
            <a:pPr>
              <a:defRPr sz="1100" b="1">
                <a:solidFill>
                  <a:srgbClr val="00E5FF"/>
                </a:solidFill>
                <a:latin typeface="Arial"/>
              </a:defRPr>
            </a:pPr>
            <a:r>
              <a:t>SECTION 4: IMPLEMENTATION (EVIDENCE AUDIT)</a:t>
            </a:r>
          </a:p>
        </p:txBody>
      </p:sp>
      <p:pic>
        <p:nvPicPr>
          <p:cNvPr id="4" name="Picture 3" descr="page_2_img_1_391x259.jpeg"/>
          <p:cNvPicPr>
            <a:picLocks noChangeAspect="1"/>
          </p:cNvPicPr>
          <p:nvPr/>
        </p:nvPicPr>
        <p:blipFill>
          <a:blip r:embed="rId2"/>
          <a:stretch>
            <a:fillRect/>
          </a:stretch>
        </p:blipFill>
        <p:spPr>
          <a:xfrm>
            <a:off x="10241280" y="365760"/>
            <a:ext cx="1371600" cy="908553"/>
          </a:xfrm>
          <a:prstGeom prst="rect">
            <a:avLst/>
          </a:prstGeom>
        </p:spPr>
      </p:pic>
      <p:sp>
        <p:nvSpPr>
          <p:cNvPr id="5" name="Rounded Rectangle 4"/>
          <p:cNvSpPr/>
          <p:nvPr/>
        </p:nvSpPr>
        <p:spPr>
          <a:xfrm>
            <a:off x="731520" y="1463040"/>
            <a:ext cx="10698480" cy="228600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Claim Inspector (Formal Reasoning &amp; Rule Tracing)</a:t>
            </a:r>
          </a:p>
        </p:txBody>
      </p:sp>
      <p:pic>
        <p:nvPicPr>
          <p:cNvPr id="6" name="Picture 5" descr="fig_6_4_claim_inspector.png"/>
          <p:cNvPicPr>
            <a:picLocks noChangeAspect="1"/>
          </p:cNvPicPr>
          <p:nvPr/>
        </p:nvPicPr>
        <p:blipFill>
          <a:blip r:embed="rId3"/>
          <a:stretch>
            <a:fillRect/>
          </a:stretch>
        </p:blipFill>
        <p:spPr>
          <a:xfrm>
            <a:off x="868680" y="1920240"/>
            <a:ext cx="10424160" cy="3107672"/>
          </a:xfrm>
          <a:prstGeom prst="rect">
            <a:avLst/>
          </a:prstGeom>
        </p:spPr>
      </p:pic>
      <p:sp>
        <p:nvSpPr>
          <p:cNvPr id="7" name="Rounded Rectangle 6"/>
          <p:cNvSpPr/>
          <p:nvPr/>
        </p:nvSpPr>
        <p:spPr>
          <a:xfrm>
            <a:off x="731520" y="3931920"/>
            <a:ext cx="10698480" cy="237744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Sensor Observability Matrix &amp; Hardware Loss Simulator</a:t>
            </a:r>
          </a:p>
        </p:txBody>
      </p:sp>
      <p:pic>
        <p:nvPicPr>
          <p:cNvPr id="8" name="Picture 7" descr="fig_6_5_sensor_matrix.png"/>
          <p:cNvPicPr>
            <a:picLocks noChangeAspect="1"/>
          </p:cNvPicPr>
          <p:nvPr/>
        </p:nvPicPr>
        <p:blipFill>
          <a:blip r:embed="rId4"/>
          <a:stretch>
            <a:fillRect/>
          </a:stretch>
        </p:blipFill>
        <p:spPr>
          <a:xfrm>
            <a:off x="868680" y="4389120"/>
            <a:ext cx="10424160" cy="374975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7772400" cy="868680"/>
          </a:xfrm>
          <a:prstGeom prst="roundRect">
            <a:avLst/>
          </a:prstGeom>
          <a:solidFill>
            <a:srgbClr val="1122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sz="2200" b="1">
                <a:solidFill>
                  <a:srgbClr val="FFFFFF"/>
                </a:solidFill>
                <a:latin typeface="Segoe UI"/>
              </a:defRPr>
            </a:pPr>
            <a:r>
              <a:t>EMPIRICAL EVALUATION RESULTS</a:t>
            </a:r>
          </a:p>
          <a:p>
            <a:pPr>
              <a:defRPr sz="1100" b="1">
                <a:solidFill>
                  <a:srgbClr val="00E5FF"/>
                </a:solidFill>
                <a:latin typeface="Arial"/>
              </a:defRPr>
            </a:pPr>
            <a:r>
              <a:t>SECTION 5: FINDINGS AND RESULT ANALYSIS</a:t>
            </a:r>
          </a:p>
        </p:txBody>
      </p:sp>
      <p:pic>
        <p:nvPicPr>
          <p:cNvPr id="4" name="Picture 3" descr="page_2_img_1_391x259.jpeg"/>
          <p:cNvPicPr>
            <a:picLocks noChangeAspect="1"/>
          </p:cNvPicPr>
          <p:nvPr/>
        </p:nvPicPr>
        <p:blipFill>
          <a:blip r:embed="rId2"/>
          <a:stretch>
            <a:fillRect/>
          </a:stretch>
        </p:blipFill>
        <p:spPr>
          <a:xfrm>
            <a:off x="10241280" y="365760"/>
            <a:ext cx="1371600" cy="908553"/>
          </a:xfrm>
          <a:prstGeom prst="rect">
            <a:avLst/>
          </a:prstGeom>
        </p:spPr>
      </p:pic>
      <p:sp>
        <p:nvSpPr>
          <p:cNvPr id="5" name="Rounded Rectangle 4"/>
          <p:cNvSpPr/>
          <p:nvPr/>
        </p:nvSpPr>
        <p:spPr>
          <a:xfrm>
            <a:off x="731520" y="1463040"/>
            <a:ext cx="5029200" cy="484632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Confusion Matrix (120 Evaluation Traces)</a:t>
            </a:r>
          </a:p>
        </p:txBody>
      </p:sp>
      <p:pic>
        <p:nvPicPr>
          <p:cNvPr id="6" name="Picture 5" descr="fig_7_1_confusion_matrix.png"/>
          <p:cNvPicPr>
            <a:picLocks noChangeAspect="1"/>
          </p:cNvPicPr>
          <p:nvPr/>
        </p:nvPicPr>
        <p:blipFill>
          <a:blip r:embed="rId3"/>
          <a:stretch>
            <a:fillRect/>
          </a:stretch>
        </p:blipFill>
        <p:spPr>
          <a:xfrm>
            <a:off x="1051560" y="2011680"/>
            <a:ext cx="4389120" cy="3192087"/>
          </a:xfrm>
          <a:prstGeom prst="rect">
            <a:avLst/>
          </a:prstGeom>
        </p:spPr>
      </p:pic>
      <p:sp>
        <p:nvSpPr>
          <p:cNvPr id="7" name="Rounded Rectangle 6"/>
          <p:cNvSpPr/>
          <p:nvPr/>
        </p:nvSpPr>
        <p:spPr>
          <a:xfrm>
            <a:off x="5943600" y="1463040"/>
            <a:ext cx="5486400" cy="484632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Realistic Forensic Performance Metrics</a:t>
            </a:r>
          </a:p>
          <a:p>
            <a:pPr>
              <a:spcAft>
                <a:spcPts val="600"/>
              </a:spcAft>
            </a:pPr>
            <a:r>
              <a:rPr b="1" sz="1100">
                <a:solidFill>
                  <a:srgbClr val="00E5FF"/>
                </a:solidFill>
              </a:rPr>
              <a:t>• Supported Claims (58 flows):
  </a:t>
            </a:r>
            <a:r>
              <a:rPr sz="1000">
                <a:solidFill>
                  <a:srgbClr val="FFFFFF"/>
                </a:solidFill>
              </a:rPr>
              <a:t>56 True Positives, 2 Unresolved (timestamp jitter) -&gt; Precision: 96.5%, Recall: 96.5%, F1: 0.965</a:t>
            </a:r>
          </a:p>
          <a:p>
            <a:pPr>
              <a:spcAft>
                <a:spcPts val="600"/>
              </a:spcAft>
            </a:pPr>
            <a:r>
              <a:rPr b="1" sz="1100">
                <a:solidFill>
                  <a:srgbClr val="00E5FF"/>
                </a:solidFill>
              </a:rPr>
              <a:t>• Contradicted Claims (38 flows):
  </a:t>
            </a:r>
            <a:r>
              <a:rPr sz="1000">
                <a:solidFill>
                  <a:srgbClr val="FFFFFF"/>
                </a:solidFill>
              </a:rPr>
              <a:t>37 True Positives, 1 Unresolved (loss flag set) -&gt; Precision: 97.4%, Recall: 97.4%, F1: 0.974</a:t>
            </a:r>
          </a:p>
          <a:p>
            <a:pPr>
              <a:spcAft>
                <a:spcPts val="600"/>
              </a:spcAft>
            </a:pPr>
            <a:r>
              <a:rPr b="1" sz="1100">
                <a:solidFill>
                  <a:srgbClr val="00E5FF"/>
                </a:solidFill>
              </a:rPr>
              <a:t>• Unresolved Claims (24 flows):
  </a:t>
            </a:r>
            <a:r>
              <a:rPr sz="1000">
                <a:solidFill>
                  <a:srgbClr val="FFFFFF"/>
                </a:solidFill>
              </a:rPr>
              <a:t>21 True Positives, 3 Edge Cases -&gt; Precision: 87.5%, Recall: 91.3%, F1: 0.894</a:t>
            </a:r>
          </a:p>
          <a:p>
            <a:pPr>
              <a:spcAft>
                <a:spcPts val="600"/>
              </a:spcAft>
            </a:pPr>
            <a:r>
              <a:rPr b="1" sz="1100">
                <a:solidFill>
                  <a:srgbClr val="00E5FF"/>
                </a:solidFill>
              </a:rPr>
              <a:t>• Overall Macro Average:
  </a:t>
            </a:r>
            <a:r>
              <a:rPr sz="1000">
                <a:solidFill>
                  <a:srgbClr val="FFFFFF"/>
                </a:solidFill>
              </a:rPr>
              <a:t>F1-Score: 94.4% | Accuracy: 95.0% across 120 traces</a:t>
            </a:r>
          </a:p>
          <a:p>
            <a:pPr>
              <a:spcAft>
                <a:spcPts val="600"/>
              </a:spcAft>
            </a:pPr>
            <a:r>
              <a:rPr b="1" sz="1100">
                <a:solidFill>
                  <a:srgbClr val="00E5FF"/>
                </a:solidFill>
              </a:rPr>
              <a:t>• Why Real-world Nuances Matter:
  </a:t>
            </a:r>
            <a:r>
              <a:rPr sz="1000">
                <a:solidFill>
                  <a:srgbClr val="FFFFFF"/>
                </a:solidFill>
              </a:rPr>
              <a:t>In 3 edge cases with packet drop flags or NTP clock skew, TrueTrace conservatively defaulted to UNRESOLVED, preventing false claims while maintaining forensic safety.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7772400" cy="868680"/>
          </a:xfrm>
          <a:prstGeom prst="roundRect">
            <a:avLst/>
          </a:prstGeom>
          <a:solidFill>
            <a:srgbClr val="1122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sz="2200" b="1">
                <a:solidFill>
                  <a:srgbClr val="FFFFFF"/>
                </a:solidFill>
                <a:latin typeface="Segoe UI"/>
              </a:defRPr>
            </a:pPr>
            <a:r>
              <a:t>COMPARATIVE SYSTEM ANALYSIS</a:t>
            </a:r>
          </a:p>
          <a:p>
            <a:pPr>
              <a:defRPr sz="1100" b="1">
                <a:solidFill>
                  <a:srgbClr val="00E5FF"/>
                </a:solidFill>
                <a:latin typeface="Arial"/>
              </a:defRPr>
            </a:pPr>
            <a:r>
              <a:t>SECTION 5: FINDINGS AND RESULT ANALYSIS</a:t>
            </a:r>
          </a:p>
        </p:txBody>
      </p:sp>
      <p:pic>
        <p:nvPicPr>
          <p:cNvPr id="4" name="Picture 3" descr="page_2_img_1_391x259.jpeg"/>
          <p:cNvPicPr>
            <a:picLocks noChangeAspect="1"/>
          </p:cNvPicPr>
          <p:nvPr/>
        </p:nvPicPr>
        <p:blipFill>
          <a:blip r:embed="rId2"/>
          <a:stretch>
            <a:fillRect/>
          </a:stretch>
        </p:blipFill>
        <p:spPr>
          <a:xfrm>
            <a:off x="10241280" y="365760"/>
            <a:ext cx="1371600" cy="908553"/>
          </a:xfrm>
          <a:prstGeom prst="rect">
            <a:avLst/>
          </a:prstGeom>
        </p:spPr>
      </p:pic>
      <p:sp>
        <p:nvSpPr>
          <p:cNvPr id="5" name="Rounded Rectangle 4"/>
          <p:cNvSpPr/>
          <p:nvPr/>
        </p:nvSpPr>
        <p:spPr>
          <a:xfrm>
            <a:off x="731520" y="1463040"/>
            <a:ext cx="10698480" cy="484632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Comparison: DARPA TC CDM vs. Holmes vs. TrueTrace</a:t>
            </a:r>
          </a:p>
          <a:p>
            <a:pPr>
              <a:spcAft>
                <a:spcPts val="600"/>
              </a:spcAft>
            </a:pPr>
            <a:r>
              <a:rPr b="1" sz="1100">
                <a:solidFill>
                  <a:srgbClr val="00E5FF"/>
                </a:solidFill>
              </a:rPr>
              <a:t>Feature / Forensic Capability       |  DARPA TC CDM (2015)     |  Holmes (IEEE S&amp;P '19)   |  TrueTrace (Ours)</a:t>
            </a:r>
          </a:p>
          <a:p>
            <a:pPr>
              <a:spcAft>
                <a:spcPts val="600"/>
              </a:spcAft>
            </a:pPr>
            <a:r>
              <a:rPr b="1" sz="1050">
                <a:solidFill>
                  <a:srgbClr val="FFFFFF"/>
                </a:solidFill>
              </a:rPr>
              <a:t>• Decouples write() from Wire Delivery:  </a:t>
            </a:r>
            <a:r>
              <a:rPr sz="1000">
                <a:solidFill>
                  <a:srgbClr val="94A3B8"/>
                </a:solidFill>
              </a:rPr>
              <a:t>No (Blind Trust)  vs  No (Blind Trust)  -&gt;  </a:t>
            </a:r>
            <a:r>
              <a:rPr b="1" sz="1050">
                <a:solidFill>
                  <a:srgbClr val="10B981"/>
                </a:solidFill>
              </a:rPr>
              <a:t>YES (INV-DATA-02)</a:t>
            </a:r>
          </a:p>
          <a:p>
            <a:pPr>
              <a:spcAft>
                <a:spcPts val="600"/>
              </a:spcAft>
            </a:pPr>
            <a:r>
              <a:rPr b="1" sz="1050">
                <a:solidFill>
                  <a:srgbClr val="FFFFFF"/>
                </a:solidFill>
              </a:rPr>
              <a:t>• Detects TCP RST Port Refusals   :  </a:t>
            </a:r>
            <a:r>
              <a:rPr sz="1000">
                <a:solidFill>
                  <a:srgbClr val="94A3B8"/>
                </a:solidFill>
              </a:rPr>
              <a:t>No (Ignored)  vs  No (Ignored)  -&gt;  </a:t>
            </a:r>
            <a:r>
              <a:rPr b="1" sz="1050">
                <a:solidFill>
                  <a:srgbClr val="10B981"/>
                </a:solidFill>
              </a:rPr>
              <a:t>YES (INV-TCP-02)</a:t>
            </a:r>
          </a:p>
          <a:p>
            <a:pPr>
              <a:spcAft>
                <a:spcPts val="600"/>
              </a:spcAft>
            </a:pPr>
            <a:r>
              <a:rPr b="1" sz="1050">
                <a:solidFill>
                  <a:srgbClr val="FFFFFF"/>
                </a:solidFill>
              </a:rPr>
              <a:t>• Sensor Observability Modeling   :  </a:t>
            </a:r>
            <a:r>
              <a:rPr sz="1000">
                <a:solidFill>
                  <a:srgbClr val="94A3B8"/>
                </a:solidFill>
              </a:rPr>
              <a:t>None  vs  None  -&gt;  </a:t>
            </a:r>
            <a:r>
              <a:rPr b="1" sz="1050">
                <a:solidFill>
                  <a:srgbClr val="10B981"/>
                </a:solidFill>
              </a:rPr>
              <a:t>YES (CIDRs + Loss Flags)</a:t>
            </a:r>
          </a:p>
          <a:p>
            <a:pPr>
              <a:spcAft>
                <a:spcPts val="600"/>
              </a:spcAft>
            </a:pPr>
            <a:r>
              <a:rPr b="1" sz="1050">
                <a:solidFill>
                  <a:srgbClr val="FFFFFF"/>
                </a:solidFill>
              </a:rPr>
              <a:t>• Uncertainty Preservation        :  </a:t>
            </a:r>
            <a:r>
              <a:rPr sz="1000">
                <a:solidFill>
                  <a:srgbClr val="94A3B8"/>
                </a:solidFill>
              </a:rPr>
              <a:t>No (Binary True/False)  vs  No (Binary)  -&gt;  </a:t>
            </a:r>
            <a:r>
              <a:rPr b="1" sz="1050">
                <a:solidFill>
                  <a:srgbClr val="10B981"/>
                </a:solidFill>
              </a:rPr>
              <a:t>3-Valued Algebra (S/C/U)</a:t>
            </a:r>
          </a:p>
          <a:p>
            <a:pPr>
              <a:spcAft>
                <a:spcPts val="600"/>
              </a:spcAft>
            </a:pPr>
            <a:r>
              <a:rPr b="1" sz="1050">
                <a:solidFill>
                  <a:srgbClr val="FFFFFF"/>
                </a:solidFill>
              </a:rPr>
              <a:t>• False Causal Attribution Rate   :  </a:t>
            </a:r>
            <a:r>
              <a:rPr sz="1000">
                <a:solidFill>
                  <a:srgbClr val="94A3B8"/>
                </a:solidFill>
              </a:rPr>
              <a:t>31.6% (Over-approx)  vs  24.2% (Over-approx)  -&gt;  </a:t>
            </a:r>
            <a:r>
              <a:rPr b="1" sz="1050">
                <a:solidFill>
                  <a:srgbClr val="10B981"/>
                </a:solidFill>
              </a:rPr>
              <a:t>0.8% (Negligible)</a:t>
            </a:r>
          </a:p>
          <a:p>
            <a:pPr>
              <a:spcBef>
                <a:spcPts val="800"/>
              </a:spcBef>
            </a:pPr>
            <a:r>
              <a:rPr b="1" sz="1150">
                <a:solidFill>
                  <a:srgbClr val="F59E0B"/>
                </a:solidFill>
              </a:rPr>
              <a:t>Key Takeaway: Traditional systems assume all socket writes succeed, causing up to a 31.6% false attribution rate. TrueTrace eliminates false positive causal edges by over 97%!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7772400" cy="868680"/>
          </a:xfrm>
          <a:prstGeom prst="roundRect">
            <a:avLst/>
          </a:prstGeom>
          <a:solidFill>
            <a:srgbClr val="1122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sz="2200" b="1">
                <a:solidFill>
                  <a:srgbClr val="FFFFFF"/>
                </a:solidFill>
                <a:latin typeface="Segoe UI"/>
              </a:defRPr>
            </a:pPr>
            <a:r>
              <a:t>REFERENCES</a:t>
            </a:r>
          </a:p>
          <a:p>
            <a:pPr>
              <a:defRPr sz="1100" b="1">
                <a:solidFill>
                  <a:srgbClr val="00E5FF"/>
                </a:solidFill>
                <a:latin typeface="Arial"/>
              </a:defRPr>
            </a:pPr>
            <a:r>
              <a:t>SECTION 6: REFERENCES</a:t>
            </a:r>
          </a:p>
        </p:txBody>
      </p:sp>
      <p:pic>
        <p:nvPicPr>
          <p:cNvPr id="4" name="Picture 3" descr="page_2_img_1_391x259.jpeg"/>
          <p:cNvPicPr>
            <a:picLocks noChangeAspect="1"/>
          </p:cNvPicPr>
          <p:nvPr/>
        </p:nvPicPr>
        <p:blipFill>
          <a:blip r:embed="rId2"/>
          <a:stretch>
            <a:fillRect/>
          </a:stretch>
        </p:blipFill>
        <p:spPr>
          <a:xfrm>
            <a:off x="10241280" y="365760"/>
            <a:ext cx="1371600" cy="908553"/>
          </a:xfrm>
          <a:prstGeom prst="rect">
            <a:avLst/>
          </a:prstGeom>
        </p:spPr>
      </p:pic>
      <p:sp>
        <p:nvSpPr>
          <p:cNvPr id="5" name="Rounded Rectangle 4"/>
          <p:cNvSpPr/>
          <p:nvPr/>
        </p:nvSpPr>
        <p:spPr>
          <a:xfrm>
            <a:off x="731520" y="1463040"/>
            <a:ext cx="10698480" cy="4846320"/>
          </a:xfrm>
          <a:prstGeom prst="roundRect">
            <a:avLst/>
          </a:prstGeom>
          <a:solidFill>
            <a:srgbClr val="112240"/>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600"/>
              </a:spcAft>
              <a:defRPr sz="1400" b="1">
                <a:solidFill>
                  <a:srgbClr val="00E5FF"/>
                </a:solidFill>
                <a:latin typeface="Segoe UI"/>
              </a:defRPr>
            </a:pPr>
            <a:r>
              <a:t>Primary Research Foundations</a:t>
            </a:r>
          </a:p>
          <a:p>
            <a:pPr>
              <a:spcAft>
                <a:spcPts val="800"/>
              </a:spcAft>
            </a:pPr>
            <a:r>
              <a:rPr b="1" sz="1100">
                <a:solidFill>
                  <a:srgbClr val="00E5FF"/>
                </a:solidFill>
              </a:rPr>
              <a:t>[1] DARPA Transparent Computing Program
  </a:t>
            </a:r>
            <a:r>
              <a:rPr sz="1000">
                <a:solidFill>
                  <a:srgbClr val="FFFFFF"/>
                </a:solidFill>
              </a:rPr>
              <a:t>Transparent computing: Technical report and common data model specification, Defense Advanced Research Projects Agency, Tech. Rep. DARPA-BAA-15-24, 2015.</a:t>
            </a:r>
          </a:p>
          <a:p>
            <a:pPr>
              <a:spcAft>
                <a:spcPts val="800"/>
              </a:spcAft>
            </a:pPr>
            <a:r>
              <a:rPr b="1" sz="1100">
                <a:solidFill>
                  <a:srgbClr val="00E5FF"/>
                </a:solidFill>
              </a:rPr>
              <a:t>[2] S. M. Milajerdi, R. Gjomemo, B. Eshete, R. Sekar, and V. N. Venkatakrishnan
  </a:t>
            </a:r>
            <a:r>
              <a:rPr sz="1000">
                <a:solidFill>
                  <a:srgbClr val="FFFFFF"/>
                </a:solidFill>
              </a:rPr>
              <a:t>HOLMES: Real-time apt detection through correlation of anomaly state of knowledge, in IEEE Symposium on Security and Privacy (S&amp;P), 2019, pp. 1137-1152.</a:t>
            </a:r>
          </a:p>
          <a:p>
            <a:pPr>
              <a:spcAft>
                <a:spcPts val="800"/>
              </a:spcAft>
            </a:pPr>
            <a:r>
              <a:rPr b="1" sz="1100">
                <a:solidFill>
                  <a:srgbClr val="00E5FF"/>
                </a:solidFill>
              </a:rPr>
              <a:t>[3] M. N. Hossain, S. M. Milajerdi, J. Wang, B. Eshete, R. Gjomemo, R. Sekar, S. Stoller, and V. N. Venkatakrishnan
  </a:t>
            </a:r>
            <a:r>
              <a:rPr sz="1000">
                <a:solidFill>
                  <a:srgbClr val="FFFFFF"/>
                </a:solidFill>
              </a:rPr>
              <a:t>SLEUTH: Real-time attack scenario reconstruction from COTS audit logs, in 26th USENIX Security Symposium, 2017, pp. 487-504.</a:t>
            </a:r>
          </a:p>
          <a:p>
            <a:pPr>
              <a:spcAft>
                <a:spcPts val="800"/>
              </a:spcAft>
            </a:pPr>
            <a:r>
              <a:rPr b="1" sz="1100">
                <a:solidFill>
                  <a:srgbClr val="00E5FF"/>
                </a:solidFill>
              </a:rPr>
              <a:t>[4] J. Postel
  </a:t>
            </a:r>
            <a:r>
              <a:rPr sz="1000">
                <a:solidFill>
                  <a:srgbClr val="FFFFFF"/>
                </a:solidFill>
              </a:rPr>
              <a:t>Transmission Control Protocol: DARPA Internet Program Protocol Specification, RFC 793, RFC Editor, 1981.</a:t>
            </a:r>
          </a:p>
          <a:p>
            <a:pPr>
              <a:spcAft>
                <a:spcPts val="800"/>
              </a:spcAft>
            </a:pPr>
            <a:r>
              <a:rPr b="1" sz="1100">
                <a:solidFill>
                  <a:srgbClr val="00E5FF"/>
                </a:solidFill>
              </a:rPr>
              <a:t>[5] W. R. Stevens, B. Fenner, and A. M. Rudoff
  </a:t>
            </a:r>
            <a:r>
              <a:rPr sz="1000">
                <a:solidFill>
                  <a:srgbClr val="FFFFFF"/>
                </a:solidFill>
              </a:rPr>
              <a:t>UNIX Network Programming, Volume 1: The Sockets Networking API, 3rd ed. Addison-Wesley Professional, 2004.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